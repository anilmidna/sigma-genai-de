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80" r:id="rId3"/>
    <p:sldId id="281" r:id="rId4"/>
    <p:sldId id="282" r:id="rId5"/>
    <p:sldId id="283" r:id="rId6"/>
    <p:sldId id="279" r:id="rId7"/>
    <p:sldId id="278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214"/>
    <a:srgbClr val="EDF3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40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3331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75880-F7A0-8A2C-7361-838A0D2E5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F5A364-69D3-FAF8-D8FC-A9AA7C2A68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258ABC-6978-B2F9-6A2C-EC953CB60B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C23CF-9911-F2A8-202B-C736539895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97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E8999-3A3B-3233-67D4-B659CA689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1BF7CF-A646-9ABC-E4F0-576F774953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087121-8E10-7837-B517-BE84F8F39F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88A962-2E02-3C35-14AD-9377EAFED2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0502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4C294-32AC-6255-F78C-0B6A89278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84B3F8-27DC-8F95-3A2E-FA9C949D4A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EC009A-008E-C539-0739-1473ABFDC3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5DA8D8-4E6C-0CF3-5A71-8B67C94672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8340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E3A9D-9A4B-8A50-2B6A-E00B45409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43CE70-66CB-19A0-3013-D50B1832FB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9B5347-5296-4F5B-0C72-D2D215956D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0A4064-DBC1-C0A5-8A30-6974BE7AFE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8701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84F55-A01B-24D3-EC46-9CEA396C1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043592-FCD6-5695-7A56-94C894EA5F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AADBF6-968B-A0B4-343B-CFC35F99F2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F88A87-CD9C-B3F3-1155-80446471BC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2620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05840"/>
            <a:ext cx="164592" cy="310896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97280"/>
            <a:ext cx="8412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Mini Capstone Project 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84048" y="33375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E5A0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Gen AI for 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4048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A9BBF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Sigma DataTech  Day 12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13A5B8-18BA-6EE8-28BF-31D2F4D04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77C84C6-84DB-F3AF-C2F9-55BB6D40D3CF}"/>
              </a:ext>
            </a:extLst>
          </p:cNvPr>
          <p:cNvSpPr/>
          <p:nvPr/>
        </p:nvSpPr>
        <p:spPr>
          <a:xfrm>
            <a:off x="0" y="914400"/>
            <a:ext cx="164592" cy="329184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EF1975A-3432-B88A-FCA2-F47E28E95853}"/>
              </a:ext>
            </a:extLst>
          </p:cNvPr>
          <p:cNvSpPr/>
          <p:nvPr/>
        </p:nvSpPr>
        <p:spPr>
          <a:xfrm>
            <a:off x="365760" y="1679787"/>
            <a:ext cx="8778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 Narrow" pitchFamily="34" charset="0"/>
              </a:rPr>
              <a:t> A ₹4.72L silent disaster. Pipeline green. Dashboard wrong.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  <a:latin typeface="Aptos Narrow" pitchFamily="34" charset="0"/>
              </a:rPr>
              <a:t>  80,000 records missing. No alert fired. No one noticed for 7 hours.</a:t>
            </a:r>
          </a:p>
          <a:p>
            <a:pPr algn="ctr"/>
            <a:endParaRPr lang="en-US" sz="2400" b="1" dirty="0">
              <a:solidFill>
                <a:srgbClr val="FFC000"/>
              </a:solidFill>
              <a:latin typeface="Aptos Narrow" pitchFamily="34" charset="0"/>
            </a:endParaRPr>
          </a:p>
          <a:p>
            <a:pPr algn="ctr"/>
            <a:r>
              <a:rPr lang="en-US" sz="2400" b="1" dirty="0">
                <a:solidFill>
                  <a:srgbClr val="FFC000"/>
                </a:solidFill>
                <a:latin typeface="Aptos Narrow" pitchFamily="34" charset="0"/>
              </a:rPr>
              <a:t>  Today you build the system that fixes it — in 26 seconds. Autonomously.</a:t>
            </a:r>
            <a:endParaRPr lang="en-US" sz="2400" dirty="0">
              <a:solidFill>
                <a:srgbClr val="FFC000"/>
              </a:solidFill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3ABA6E00-3F31-BA73-7848-C9C6D08B2449}"/>
              </a:ext>
            </a:extLst>
          </p:cNvPr>
          <p:cNvSpPr/>
          <p:nvPr/>
        </p:nvSpPr>
        <p:spPr>
          <a:xfrm>
            <a:off x="365760" y="-33867"/>
            <a:ext cx="8412480" cy="1070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00" b="1" dirty="0">
                <a:solidFill>
                  <a:srgbClr val="FFFFFF"/>
                </a:solidFill>
                <a:latin typeface="Aptos Narrow" pitchFamily="34" charset="0"/>
              </a:rPr>
              <a:t>Day 12 —Sigma Intelligence Platform</a:t>
            </a:r>
            <a:endParaRPr lang="en-US" sz="4200" dirty="0"/>
          </a:p>
        </p:txBody>
      </p:sp>
    </p:spTree>
    <p:extLst>
      <p:ext uri="{BB962C8B-B14F-4D97-AF65-F5344CB8AC3E}">
        <p14:creationId xmlns:p14="http://schemas.microsoft.com/office/powerpoint/2010/main" val="1090204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C11623-14AE-134E-C74B-6FB22BED7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6D560D7-1B91-4310-2145-5BB03F8B09E5}"/>
              </a:ext>
            </a:extLst>
          </p:cNvPr>
          <p:cNvSpPr/>
          <p:nvPr/>
        </p:nvSpPr>
        <p:spPr>
          <a:xfrm>
            <a:off x="0" y="914400"/>
            <a:ext cx="164592" cy="329184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96407EE1-EF3D-30AD-4B1C-8A85A1467848}"/>
              </a:ext>
            </a:extLst>
          </p:cNvPr>
          <p:cNvSpPr/>
          <p:nvPr/>
        </p:nvSpPr>
        <p:spPr>
          <a:xfrm>
            <a:off x="365760" y="-33867"/>
            <a:ext cx="8412480" cy="1070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00" b="1" dirty="0">
                <a:solidFill>
                  <a:srgbClr val="FFFFFF"/>
                </a:solidFill>
                <a:latin typeface="Aptos Narrow" panose="020B0004020202020204" pitchFamily="34" charset="0"/>
              </a:rPr>
              <a:t>Day 12 —Sigma Intelligence Platform</a:t>
            </a:r>
            <a:endParaRPr lang="en-US" sz="4200" dirty="0">
              <a:latin typeface="Aptos Narrow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F03D73-74E4-DEC7-82CC-DBE4257ABA7C}"/>
              </a:ext>
            </a:extLst>
          </p:cNvPr>
          <p:cNvSpPr txBox="1"/>
          <p:nvPr/>
        </p:nvSpPr>
        <p:spPr>
          <a:xfrm>
            <a:off x="898314" y="1168183"/>
            <a:ext cx="376766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ptos Narrow" panose="020B0004020202020204" pitchFamily="34" charset="0"/>
              </a:rPr>
              <a:t>WHAT YOU BUILD</a:t>
            </a:r>
          </a:p>
          <a:p>
            <a:r>
              <a:rPr lang="en-IN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</a:p>
          <a:p>
            <a:r>
              <a:rPr lang="en-IN" dirty="0">
                <a:solidFill>
                  <a:schemeClr val="bg1"/>
                </a:solidFill>
                <a:latin typeface="Aptos Narrow" panose="020B0004020202020204" pitchFamily="34" charset="0"/>
              </a:rPr>
              <a:t> Kinesis → Firehose</a:t>
            </a:r>
          </a:p>
          <a:p>
            <a:r>
              <a:rPr lang="en-IN" dirty="0">
                <a:solidFill>
                  <a:schemeClr val="bg1"/>
                </a:solidFill>
                <a:latin typeface="Aptos Narrow" panose="020B0004020202020204" pitchFamily="34" charset="0"/>
              </a:rPr>
              <a:t> S3 → Snowflake</a:t>
            </a:r>
          </a:p>
          <a:p>
            <a:r>
              <a:rPr lang="en-IN" dirty="0">
                <a:solidFill>
                  <a:schemeClr val="bg1"/>
                </a:solidFill>
                <a:latin typeface="Aptos Narrow" panose="020B0004020202020204" pitchFamily="34" charset="0"/>
              </a:rPr>
              <a:t> Lambda (9 tools)</a:t>
            </a:r>
          </a:p>
          <a:p>
            <a:r>
              <a:rPr lang="en-IN" dirty="0">
                <a:solidFill>
                  <a:schemeClr val="bg1"/>
                </a:solidFill>
                <a:latin typeface="Aptos Narrow" panose="020B0004020202020204" pitchFamily="34" charset="0"/>
              </a:rPr>
              <a:t> CloudWatch + SNS</a:t>
            </a:r>
          </a:p>
          <a:p>
            <a:r>
              <a:rPr lang="en-IN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IN" dirty="0" err="1">
                <a:solidFill>
                  <a:schemeClr val="bg1"/>
                </a:solidFill>
                <a:latin typeface="Aptos Narrow" panose="020B0004020202020204" pitchFamily="34" charset="0"/>
              </a:rPr>
              <a:t>EventBridge</a:t>
            </a:r>
            <a:r>
              <a:rPr lang="en-IN" dirty="0">
                <a:solidFill>
                  <a:schemeClr val="bg1"/>
                </a:solidFill>
                <a:latin typeface="Aptos Narrow" panose="020B0004020202020204" pitchFamily="34" charset="0"/>
              </a:rPr>
              <a:t> trigger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CB8A58-0238-1354-DA19-9092E66F51F8}"/>
              </a:ext>
            </a:extLst>
          </p:cNvPr>
          <p:cNvSpPr txBox="1"/>
          <p:nvPr/>
        </p:nvSpPr>
        <p:spPr>
          <a:xfrm>
            <a:off x="4739640" y="1200972"/>
            <a:ext cx="344254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Aptos Narrow" panose="020B0004020202020204" pitchFamily="34" charset="0"/>
              </a:rPr>
              <a:t> THE AI LAYER</a:t>
            </a:r>
          </a:p>
          <a:p>
            <a:r>
              <a:rPr lang="en-IN" dirty="0">
                <a:latin typeface="Aptos Narrow" panose="020B0004020202020204" pitchFamily="34" charset="0"/>
              </a:rPr>
              <a:t>  </a:t>
            </a:r>
          </a:p>
          <a:p>
            <a:r>
              <a:rPr lang="en-IN" b="0" dirty="0">
                <a:latin typeface="Aptos Narrow" panose="020B0004020202020204" pitchFamily="34" charset="0"/>
              </a:rPr>
              <a:t>7 Bedrock Agents</a:t>
            </a:r>
          </a:p>
          <a:p>
            <a:r>
              <a:rPr lang="en-IN" b="0" dirty="0">
                <a:latin typeface="Aptos Narrow" panose="020B0004020202020204" pitchFamily="34" charset="0"/>
              </a:rPr>
              <a:t>MCP Server (tool discovery)</a:t>
            </a:r>
          </a:p>
          <a:p>
            <a:r>
              <a:rPr lang="en-IN" b="0" dirty="0">
                <a:latin typeface="Aptos Narrow" panose="020B0004020202020204" pitchFamily="34" charset="0"/>
              </a:rPr>
              <a:t>Knowledge Base — RAG</a:t>
            </a:r>
          </a:p>
          <a:p>
            <a:r>
              <a:rPr lang="en-IN" b="0" dirty="0">
                <a:latin typeface="Aptos Narrow" panose="020B0004020202020204" pitchFamily="34" charset="0"/>
              </a:rPr>
              <a:t>Guardrails (PII + compliance)</a:t>
            </a:r>
          </a:p>
          <a:p>
            <a:r>
              <a:rPr lang="en-IN" b="0" dirty="0">
                <a:latin typeface="Aptos Narrow" panose="020B0004020202020204" pitchFamily="34" charset="0"/>
              </a:rPr>
              <a:t>Amazon Nova Pro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787CBE-E194-39AE-5C32-02AA635E2DAA}"/>
              </a:ext>
            </a:extLst>
          </p:cNvPr>
          <p:cNvSpPr txBox="1"/>
          <p:nvPr/>
        </p:nvSpPr>
        <p:spPr>
          <a:xfrm>
            <a:off x="1095587" y="4333147"/>
            <a:ext cx="75268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FFC000"/>
                </a:solidFill>
                <a:latin typeface="Aptos Narrow" panose="020B0004020202020204" pitchFamily="34" charset="0"/>
              </a:rPr>
              <a:t> Forensics → Impact → Recovery → Rollback → Hardening → Report</a:t>
            </a:r>
          </a:p>
        </p:txBody>
      </p:sp>
      <p:pic>
        <p:nvPicPr>
          <p:cNvPr id="13" name="Picture 12" descr="Shiny Golden Number 7 Illustration, Golden Number 7, Shiny Metallic Design,  Elegant Number Illustration PNG Transparent Image and Clipart for Free  Download">
            <a:extLst>
              <a:ext uri="{FF2B5EF4-FFF2-40B4-BE49-F238E27FC236}">
                <a16:creationId xmlns:a16="http://schemas.microsoft.com/office/drawing/2014/main" id="{65581AAF-BFA3-2223-30A8-D50B3810F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816" y="3340434"/>
            <a:ext cx="1145798" cy="146524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6C0DDE4-A7B4-69B9-5073-E9F576BA7396}"/>
              </a:ext>
            </a:extLst>
          </p:cNvPr>
          <p:cNvSpPr txBox="1"/>
          <p:nvPr/>
        </p:nvSpPr>
        <p:spPr>
          <a:xfrm>
            <a:off x="1225973" y="3583094"/>
            <a:ext cx="2749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ptos Narrow" panose="020B0004020202020204" pitchFamily="34" charset="0"/>
              </a:rPr>
              <a:t>AGENTS</a:t>
            </a:r>
            <a:endParaRPr lang="en-IN" sz="2400" b="1" dirty="0">
              <a:solidFill>
                <a:schemeClr val="bg1"/>
              </a:solidFill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4697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FFE0B7-4B32-95EE-9EFA-71F884C63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E3AA1C0-DAB7-EAC7-6DBD-2C03F6D67E76}"/>
              </a:ext>
            </a:extLst>
          </p:cNvPr>
          <p:cNvSpPr/>
          <p:nvPr/>
        </p:nvSpPr>
        <p:spPr>
          <a:xfrm>
            <a:off x="0" y="914400"/>
            <a:ext cx="164592" cy="329184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41ECD45-5874-B625-E5FD-84A5E1FCD3BE}"/>
              </a:ext>
            </a:extLst>
          </p:cNvPr>
          <p:cNvSpPr/>
          <p:nvPr/>
        </p:nvSpPr>
        <p:spPr>
          <a:xfrm>
            <a:off x="237067" y="1679787"/>
            <a:ext cx="8906933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Aptos Narrow" pitchFamily="34" charset="0"/>
              </a:rPr>
              <a:t> The same architecture runs at </a:t>
            </a:r>
            <a:r>
              <a:rPr lang="en-US" sz="2800" b="1" dirty="0" err="1">
                <a:solidFill>
                  <a:schemeClr val="bg1"/>
                </a:solidFill>
                <a:latin typeface="Aptos Narrow" pitchFamily="34" charset="0"/>
              </a:rPr>
              <a:t>PhonePe</a:t>
            </a:r>
            <a:r>
              <a:rPr lang="en-US" sz="2800" b="1" dirty="0">
                <a:solidFill>
                  <a:schemeClr val="bg1"/>
                </a:solidFill>
                <a:latin typeface="Aptos Narrow" pitchFamily="34" charset="0"/>
              </a:rPr>
              <a:t>, </a:t>
            </a:r>
            <a:r>
              <a:rPr lang="en-US" sz="2800" b="1" dirty="0" err="1">
                <a:solidFill>
                  <a:schemeClr val="bg1"/>
                </a:solidFill>
                <a:latin typeface="Aptos Narrow" pitchFamily="34" charset="0"/>
              </a:rPr>
              <a:t>Razorpay</a:t>
            </a:r>
            <a:r>
              <a:rPr lang="en-US" sz="2800" b="1" dirty="0">
                <a:solidFill>
                  <a:schemeClr val="bg1"/>
                </a:solidFill>
                <a:latin typeface="Aptos Narrow" pitchFamily="34" charset="0"/>
              </a:rPr>
              <a:t> &amp; CRED.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  <a:latin typeface="Aptos Narrow" pitchFamily="34" charset="0"/>
              </a:rPr>
              <a:t>  </a:t>
            </a:r>
          </a:p>
          <a:p>
            <a:pPr algn="ctr"/>
            <a:endParaRPr lang="en-US" sz="2400" b="1" dirty="0">
              <a:solidFill>
                <a:schemeClr val="bg1"/>
              </a:solidFill>
              <a:latin typeface="Aptos Narrow" pitchFamily="34" charset="0"/>
            </a:endParaRPr>
          </a:p>
          <a:p>
            <a:pPr algn="ctr"/>
            <a:r>
              <a:rPr lang="en-US" sz="2400" b="1" dirty="0">
                <a:solidFill>
                  <a:srgbClr val="FFC000"/>
                </a:solidFill>
                <a:latin typeface="Aptos Narrow" pitchFamily="34" charset="0"/>
              </a:rPr>
              <a:t>You will build it, break it, and watch AI heal it.</a:t>
            </a:r>
            <a:endParaRPr lang="en-US" sz="2400" dirty="0">
              <a:solidFill>
                <a:srgbClr val="FFC000"/>
              </a:solidFill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8F0AFFCD-EA35-811B-A285-F88DDB0D335B}"/>
              </a:ext>
            </a:extLst>
          </p:cNvPr>
          <p:cNvSpPr/>
          <p:nvPr/>
        </p:nvSpPr>
        <p:spPr>
          <a:xfrm>
            <a:off x="365760" y="-33867"/>
            <a:ext cx="8412480" cy="1070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00" b="1" dirty="0">
                <a:solidFill>
                  <a:srgbClr val="FFFFFF"/>
                </a:solidFill>
                <a:latin typeface="Aptos Narrow" pitchFamily="34" charset="0"/>
              </a:rPr>
              <a:t>Day 12 —Sigma Intelligence Platform</a:t>
            </a:r>
            <a:endParaRPr lang="en-US" sz="4200" dirty="0"/>
          </a:p>
        </p:txBody>
      </p:sp>
    </p:spTree>
    <p:extLst>
      <p:ext uri="{BB962C8B-B14F-4D97-AF65-F5344CB8AC3E}">
        <p14:creationId xmlns:p14="http://schemas.microsoft.com/office/powerpoint/2010/main" val="1036878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3E06FD-2373-CABC-E72E-EACAEB65C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D93DD0D-AAFF-0A45-63B1-3FB5C10E9BAF}"/>
              </a:ext>
            </a:extLst>
          </p:cNvPr>
          <p:cNvSpPr/>
          <p:nvPr/>
        </p:nvSpPr>
        <p:spPr>
          <a:xfrm>
            <a:off x="0" y="914400"/>
            <a:ext cx="164592" cy="329184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682E109-8410-4CB3-F2E7-FF869A2D1E8F}"/>
              </a:ext>
            </a:extLst>
          </p:cNvPr>
          <p:cNvSpPr/>
          <p:nvPr/>
        </p:nvSpPr>
        <p:spPr>
          <a:xfrm>
            <a:off x="304800" y="1469814"/>
            <a:ext cx="8906933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000" dirty="0">
              <a:solidFill>
                <a:schemeClr val="bg1"/>
              </a:solidFill>
              <a:latin typeface="Aptos Narrow" pitchFamily="34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Aptos Narrow" pitchFamily="34" charset="0"/>
              </a:rPr>
              <a:t>Create setup_kb.py that:</a:t>
            </a:r>
          </a:p>
          <a:p>
            <a:r>
              <a:rPr lang="en-US" sz="2000" dirty="0">
                <a:solidFill>
                  <a:schemeClr val="bg1"/>
                </a:solidFill>
                <a:latin typeface="Aptos Narrow" pitchFamily="34" charset="0"/>
              </a:rPr>
              <a:t>1. Reads all .md files from lab/</a:t>
            </a:r>
            <a:r>
              <a:rPr lang="en-US" sz="2000" dirty="0" err="1">
                <a:solidFill>
                  <a:schemeClr val="bg1"/>
                </a:solidFill>
                <a:latin typeface="Aptos Narrow" pitchFamily="34" charset="0"/>
              </a:rPr>
              <a:t>knowledge_base</a:t>
            </a:r>
            <a:r>
              <a:rPr lang="en-US" sz="2000" dirty="0">
                <a:solidFill>
                  <a:schemeClr val="bg1"/>
                </a:solidFill>
                <a:latin typeface="Aptos Narrow" pitchFamily="34" charset="0"/>
              </a:rPr>
              <a:t>/</a:t>
            </a:r>
          </a:p>
          <a:p>
            <a:r>
              <a:rPr lang="en-US" sz="2000" dirty="0">
                <a:solidFill>
                  <a:schemeClr val="bg1"/>
                </a:solidFill>
                <a:latin typeface="Aptos Narrow" pitchFamily="34" charset="0"/>
              </a:rPr>
              <a:t>2. Calls Bedrock Titan Embeddings (amazon.titan-embed-text-v2:0) to embed each document</a:t>
            </a:r>
          </a:p>
          <a:p>
            <a:r>
              <a:rPr lang="en-US" sz="2000" dirty="0">
                <a:solidFill>
                  <a:schemeClr val="bg1"/>
                </a:solidFill>
                <a:latin typeface="Aptos Narrow" pitchFamily="34" charset="0"/>
              </a:rPr>
              <a:t>3. Saves the index as </a:t>
            </a:r>
            <a:r>
              <a:rPr lang="en-US" sz="2000" dirty="0" err="1">
                <a:solidFill>
                  <a:schemeClr val="bg1"/>
                </a:solidFill>
                <a:latin typeface="Aptos Narrow" pitchFamily="34" charset="0"/>
              </a:rPr>
              <a:t>knowledge_base</a:t>
            </a:r>
            <a:r>
              <a:rPr lang="en-US" sz="2000" dirty="0">
                <a:solidFill>
                  <a:schemeClr val="bg1"/>
                </a:solidFill>
                <a:latin typeface="Aptos Narrow" pitchFamily="34" charset="0"/>
              </a:rPr>
              <a:t>/</a:t>
            </a:r>
            <a:r>
              <a:rPr lang="en-US" sz="2000" dirty="0" err="1">
                <a:solidFill>
                  <a:schemeClr val="bg1"/>
                </a:solidFill>
                <a:latin typeface="Aptos Narrow" pitchFamily="34" charset="0"/>
              </a:rPr>
              <a:t>index.json</a:t>
            </a:r>
            <a:r>
              <a:rPr lang="en-US" sz="2000" dirty="0">
                <a:solidFill>
                  <a:schemeClr val="bg1"/>
                </a:solidFill>
                <a:latin typeface="Aptos Narrow" pitchFamily="34" charset="0"/>
              </a:rPr>
              <a:t> in your S3 bucket</a:t>
            </a:r>
          </a:p>
          <a:p>
            <a:r>
              <a:rPr lang="en-US" sz="2000" dirty="0">
                <a:solidFill>
                  <a:schemeClr val="bg1"/>
                </a:solidFill>
                <a:latin typeface="Aptos Narrow" pitchFamily="34" charset="0"/>
              </a:rPr>
              <a:t> </a:t>
            </a:r>
          </a:p>
          <a:p>
            <a:r>
              <a:rPr lang="en-US" sz="2000" dirty="0">
                <a:solidFill>
                  <a:schemeClr val="bg1"/>
                </a:solidFill>
                <a:latin typeface="Aptos Narrow" pitchFamily="34" charset="0"/>
              </a:rPr>
              <a:t> Then update test_knowledge_base.py to:</a:t>
            </a:r>
          </a:p>
          <a:p>
            <a:r>
              <a:rPr lang="en-US" sz="2000" dirty="0">
                <a:solidFill>
                  <a:schemeClr val="bg1"/>
                </a:solidFill>
                <a:latin typeface="Aptos Narrow" pitchFamily="34" charset="0"/>
              </a:rPr>
              <a:t> 1. Load the index from S3</a:t>
            </a:r>
          </a:p>
          <a:p>
            <a:r>
              <a:rPr lang="en-US" sz="2000" dirty="0">
                <a:solidFill>
                  <a:schemeClr val="bg1"/>
                </a:solidFill>
                <a:latin typeface="Aptos Narrow" pitchFamily="34" charset="0"/>
              </a:rPr>
              <a:t> 2. Embed the query using the same model</a:t>
            </a:r>
          </a:p>
          <a:p>
            <a:r>
              <a:rPr lang="en-US" sz="2000" dirty="0">
                <a:solidFill>
                  <a:schemeClr val="bg1"/>
                </a:solidFill>
                <a:latin typeface="Aptos Narrow" pitchFamily="34" charset="0"/>
              </a:rPr>
              <a:t> 3. Do cosine similarity (</a:t>
            </a:r>
            <a:r>
              <a:rPr lang="en-US" sz="2000" dirty="0" err="1">
                <a:solidFill>
                  <a:schemeClr val="bg1"/>
                </a:solidFill>
                <a:latin typeface="Aptos Narrow" pitchFamily="34" charset="0"/>
              </a:rPr>
              <a:t>numpy</a:t>
            </a:r>
            <a:r>
              <a:rPr lang="en-US" sz="2000" dirty="0">
                <a:solidFill>
                  <a:schemeClr val="bg1"/>
                </a:solidFill>
                <a:latin typeface="Aptos Narrow" pitchFamily="34" charset="0"/>
              </a:rPr>
              <a:t>)</a:t>
            </a:r>
          </a:p>
          <a:p>
            <a:r>
              <a:rPr lang="en-US" sz="2000" dirty="0">
                <a:solidFill>
                  <a:schemeClr val="bg1"/>
                </a:solidFill>
                <a:latin typeface="Aptos Narrow" pitchFamily="34" charset="0"/>
              </a:rPr>
              <a:t> 4. Return top 3 results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52ACF6B3-19E4-24DE-5360-F66BB3C867EC}"/>
              </a:ext>
            </a:extLst>
          </p:cNvPr>
          <p:cNvSpPr/>
          <p:nvPr/>
        </p:nvSpPr>
        <p:spPr>
          <a:xfrm>
            <a:off x="365760" y="-33867"/>
            <a:ext cx="8412480" cy="1070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00" b="1" dirty="0">
                <a:solidFill>
                  <a:srgbClr val="FFFFFF"/>
                </a:solidFill>
                <a:latin typeface="Aptos Narrow" pitchFamily="34" charset="0"/>
              </a:rPr>
              <a:t>Knowledge base creation - approach</a:t>
            </a:r>
            <a:endParaRPr lang="en-US" sz="4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60D921-DB1F-0AB3-9766-5AF3DD8C9B31}"/>
              </a:ext>
            </a:extLst>
          </p:cNvPr>
          <p:cNvSpPr txBox="1"/>
          <p:nvPr/>
        </p:nvSpPr>
        <p:spPr>
          <a:xfrm>
            <a:off x="1727199" y="4538133"/>
            <a:ext cx="6177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Attention : Avoid using AWS Open Search SERVERLESS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A407F4-5501-2CF2-1ED4-78FFCA30860F}"/>
              </a:ext>
            </a:extLst>
          </p:cNvPr>
          <p:cNvSpPr txBox="1"/>
          <p:nvPr/>
        </p:nvSpPr>
        <p:spPr>
          <a:xfrm>
            <a:off x="5542280" y="3116072"/>
            <a:ext cx="343238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rgbClr val="FFC000"/>
                </a:solidFill>
              </a:rPr>
              <a:t>Refer to lab/</a:t>
            </a:r>
            <a:r>
              <a:rPr lang="en-IN" sz="1400" b="1" dirty="0" err="1">
                <a:solidFill>
                  <a:srgbClr val="FFC000"/>
                </a:solidFill>
              </a:rPr>
              <a:t>knowledge_base</a:t>
            </a:r>
            <a:r>
              <a:rPr lang="en-IN" sz="1400" b="1" dirty="0">
                <a:solidFill>
                  <a:srgbClr val="FFC000"/>
                </a:solidFill>
              </a:rPr>
              <a:t>/</a:t>
            </a:r>
          </a:p>
          <a:p>
            <a:r>
              <a:rPr lang="en-IN" sz="1400" dirty="0">
                <a:solidFill>
                  <a:srgbClr val="FFC000"/>
                </a:solidFill>
              </a:rPr>
              <a:t>    sla_contracts/quickmart_sla.md</a:t>
            </a:r>
          </a:p>
          <a:p>
            <a:r>
              <a:rPr lang="en-IN" sz="1400" dirty="0">
                <a:solidFill>
                  <a:srgbClr val="FFC000"/>
                </a:solidFill>
              </a:rPr>
              <a:t>    sla_contracts/fuelplus_sla.md</a:t>
            </a:r>
          </a:p>
          <a:p>
            <a:r>
              <a:rPr lang="en-IN" sz="1400" dirty="0">
                <a:solidFill>
                  <a:srgbClr val="FFC000"/>
                </a:solidFill>
              </a:rPr>
              <a:t>    runbooks/kinesis_replay_runbook.md</a:t>
            </a:r>
          </a:p>
          <a:p>
            <a:r>
              <a:rPr lang="en-IN" sz="1400" dirty="0">
                <a:solidFill>
                  <a:srgbClr val="FFC000"/>
                </a:solidFill>
              </a:rPr>
              <a:t>    data_contracts/sigma_transactions_v1.md</a:t>
            </a:r>
          </a:p>
        </p:txBody>
      </p:sp>
    </p:spTree>
    <p:extLst>
      <p:ext uri="{BB962C8B-B14F-4D97-AF65-F5344CB8AC3E}">
        <p14:creationId xmlns:p14="http://schemas.microsoft.com/office/powerpoint/2010/main" val="1778648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FA6B15-B6A1-153A-FE58-BADD20B6C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75541EC-08C1-B8A1-07C3-D084CABDB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0"/>
            <a:ext cx="77152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256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0"/>
            <a:ext cx="164592" cy="329184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7100" y="1479974"/>
            <a:ext cx="28021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Aptos Narrow" pitchFamily="34" charset="0"/>
              </a:rPr>
              <a:t>Speed Runner Mode</a:t>
            </a:r>
          </a:p>
          <a:p>
            <a:pPr marL="0" indent="0" algn="ctr">
              <a:buNone/>
            </a:pPr>
            <a:endParaRPr lang="en-US" sz="1800" b="1" dirty="0">
              <a:solidFill>
                <a:schemeClr val="bg1"/>
              </a:solidFill>
              <a:latin typeface="Aptos Narrow" pitchFamily="34" charset="0"/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README.md only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No hints. No steps. </a:t>
            </a:r>
          </a:p>
          <a:p>
            <a:pPr algn="ctr"/>
            <a:r>
              <a:rPr lang="en-US" sz="1800" dirty="0">
                <a:solidFill>
                  <a:schemeClr val="bg1"/>
                </a:solidFill>
              </a:rPr>
              <a:t>D</a:t>
            </a:r>
            <a:r>
              <a:rPr lang="en-US" dirty="0">
                <a:solidFill>
                  <a:schemeClr val="bg1"/>
                </a:solidFill>
              </a:rPr>
              <a:t>o it yourselves</a:t>
            </a:r>
          </a:p>
          <a:p>
            <a:pPr algn="ctr"/>
            <a:endParaRPr lang="en-US" sz="1800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2X Points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58AF27F-94CE-F9DF-4CB2-C7B3BAED5EBF}"/>
              </a:ext>
            </a:extLst>
          </p:cNvPr>
          <p:cNvSpPr/>
          <p:nvPr/>
        </p:nvSpPr>
        <p:spPr>
          <a:xfrm>
            <a:off x="4971628" y="1490135"/>
            <a:ext cx="343069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Aptos Narrow" pitchFamily="34" charset="0"/>
              </a:rPr>
              <a:t>Guided Quest Mode</a:t>
            </a:r>
          </a:p>
          <a:p>
            <a:pPr marL="0" indent="0" algn="ctr">
              <a:buNone/>
            </a:pPr>
            <a:endParaRPr lang="en-US" sz="1800" b="1" dirty="0">
              <a:solidFill>
                <a:schemeClr val="bg1"/>
              </a:solidFill>
              <a:latin typeface="Aptos Narrow" pitchFamily="34" charset="0"/>
            </a:endParaRP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Aptos Narrow" pitchFamily="34" charset="0"/>
              </a:rPr>
              <a:t>Implementation Guide </a:t>
            </a:r>
            <a:endParaRPr lang="en-US" sz="1800" dirty="0">
              <a:solidFill>
                <a:schemeClr val="bg1"/>
              </a:solidFill>
              <a:latin typeface="Aptos Narrow" pitchFamily="34" charset="0"/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Every step. Every command.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Normal Points</a:t>
            </a: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61EF8B27-F717-2E92-0D89-80B49F3E1A05}"/>
              </a:ext>
            </a:extLst>
          </p:cNvPr>
          <p:cNvSpPr/>
          <p:nvPr/>
        </p:nvSpPr>
        <p:spPr>
          <a:xfrm>
            <a:off x="365760" y="-33867"/>
            <a:ext cx="8412480" cy="1070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ptos Narrow" pitchFamily="34" charset="0"/>
              </a:rPr>
              <a:t>Two Modes to implement</a:t>
            </a:r>
            <a:endParaRPr lang="en-US" sz="4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1A8E2B-0B4D-AECB-1499-1D0D47E06FBC}"/>
              </a:ext>
            </a:extLst>
          </p:cNvPr>
          <p:cNvSpPr txBox="1"/>
          <p:nvPr/>
        </p:nvSpPr>
        <p:spPr>
          <a:xfrm>
            <a:off x="802642" y="4118187"/>
            <a:ext cx="7599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C000"/>
                </a:solidFill>
              </a:rPr>
              <a:t>Stretch : Implement </a:t>
            </a:r>
            <a:r>
              <a:rPr lang="en-US" sz="2000" b="1" dirty="0" err="1">
                <a:solidFill>
                  <a:srgbClr val="FFC000"/>
                </a:solidFill>
              </a:rPr>
              <a:t>Streamlit</a:t>
            </a:r>
            <a:r>
              <a:rPr lang="en-US" sz="2000" b="1" dirty="0">
                <a:solidFill>
                  <a:srgbClr val="FFC000"/>
                </a:solidFill>
              </a:rPr>
              <a:t> dashboard to gain Bonus Points</a:t>
            </a:r>
            <a:endParaRPr lang="en-IN" sz="2000" b="1" dirty="0">
              <a:solidFill>
                <a:srgbClr val="FFC000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355C4F0-2996-06A4-6A67-ECCDB1F6D5BB}"/>
              </a:ext>
            </a:extLst>
          </p:cNvPr>
          <p:cNvCxnSpPr/>
          <p:nvPr/>
        </p:nvCxnSpPr>
        <p:spPr>
          <a:xfrm>
            <a:off x="4602482" y="1232747"/>
            <a:ext cx="0" cy="2540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769</TotalTime>
  <Words>381</Words>
  <Application>Microsoft Office PowerPoint</Application>
  <PresentationFormat>On-screen Show (16:9)</PresentationFormat>
  <Paragraphs>71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 Narrow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11 - AI Agents for Intelligent Data Ingestion &amp; Quality</dc:title>
  <dc:subject>PptxGenJS Presentation</dc:subject>
  <dc:creator>PptxGenJS</dc:creator>
  <cp:lastModifiedBy>Anil Kumar S</cp:lastModifiedBy>
  <cp:revision>13</cp:revision>
  <dcterms:created xsi:type="dcterms:W3CDTF">2026-05-31T07:30:58Z</dcterms:created>
  <dcterms:modified xsi:type="dcterms:W3CDTF">2026-06-02T07:21:16Z</dcterms:modified>
</cp:coreProperties>
</file>